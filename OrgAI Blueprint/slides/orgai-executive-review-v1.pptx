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4c45ad95f74e1a" /><Relationship Type="http://schemas.openxmlformats.org/officeDocument/2006/relationships/extended-properties" Target="/docProps/app.xml" Id="Re5cf4ddc9a7d44c1" /><Relationship Type="http://schemas.openxmlformats.org/officeDocument/2006/relationships/officeDocument" Target="/ppt/presentation.xml" Id="Rd08732421e5046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9ca0ab0b014afc"/>
  </p:sldMasterIdLst>
  <p:notesMasterIdLst>
    <p:notesMasterId xmlns:r="http://schemas.openxmlformats.org/officeDocument/2006/relationships" r:id="R75b3257fc764442c"/>
  </p:notesMasterIdLst>
  <p:sldIdLst>
    <p:sldId xmlns:r="http://schemas.openxmlformats.org/officeDocument/2006/relationships" id="256" r:id="Rb0949dbc341f4d22"/>
    <p:sldId xmlns:r="http://schemas.openxmlformats.org/officeDocument/2006/relationships" id="257" r:id="Rf66bb7b73b5649ca"/>
    <p:sldId xmlns:r="http://schemas.openxmlformats.org/officeDocument/2006/relationships" id="258" r:id="Rb17d22b647d14389"/>
    <p:sldId xmlns:r="http://schemas.openxmlformats.org/officeDocument/2006/relationships" id="259" r:id="R91473d1dc01747b9"/>
    <p:sldId xmlns:r="http://schemas.openxmlformats.org/officeDocument/2006/relationships" id="260" r:id="R9edf87d140f9456e"/>
    <p:sldId xmlns:r="http://schemas.openxmlformats.org/officeDocument/2006/relationships" id="261" r:id="Re6e803f2acdc4659"/>
    <p:sldId xmlns:r="http://schemas.openxmlformats.org/officeDocument/2006/relationships" id="262" r:id="R6c52495050dd4ac2"/>
    <p:sldId xmlns:r="http://schemas.openxmlformats.org/officeDocument/2006/relationships" id="263" r:id="R650b7b879b914fda"/>
    <p:sldId xmlns:r="http://schemas.openxmlformats.org/officeDocument/2006/relationships" id="264" r:id="R8d09e0463d1e4172"/>
    <p:sldId xmlns:r="http://schemas.openxmlformats.org/officeDocument/2006/relationships" id="265" r:id="R2a4c58a34d954d99"/>
    <p:sldId xmlns:r="http://schemas.openxmlformats.org/officeDocument/2006/relationships" id="266" r:id="R8130889be0074e22"/>
    <p:sldId xmlns:r="http://schemas.openxmlformats.org/officeDocument/2006/relationships" id="267" r:id="Rd58b874403534fa3"/>
    <p:sldId xmlns:r="http://schemas.openxmlformats.org/officeDocument/2006/relationships" id="268" r:id="R98a6344bfa7043a3"/>
    <p:sldId xmlns:r="http://schemas.openxmlformats.org/officeDocument/2006/relationships" id="269" r:id="Ra273b303969c48b2"/>
    <p:sldId xmlns:r="http://schemas.openxmlformats.org/officeDocument/2006/relationships" id="270" r:id="R082365552cac42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197c9d10474059" /><Relationship Type="http://schemas.openxmlformats.org/officeDocument/2006/relationships/slideMaster" Target="/ppt/slideMasters/slideMaster1.xml" Id="Rb69ca0ab0b014afc" /><Relationship Type="http://schemas.openxmlformats.org/officeDocument/2006/relationships/notesMaster" Target="/ppt/notesMasters/notesMaster1.xml" Id="R75b3257fc764442c" /><Relationship Type="http://schemas.openxmlformats.org/officeDocument/2006/relationships/presProps" Target="/ppt/presProps.xml" Id="Rb03655273dc6415b" /><Relationship Type="http://schemas.openxmlformats.org/officeDocument/2006/relationships/tableStyles" Target="/ppt/tableStyles.xml" Id="R3f523e05ec344f02" /><Relationship Type="http://schemas.openxmlformats.org/officeDocument/2006/relationships/slide" Target="/ppt/slides/slide1.xml" Id="Rb0949dbc341f4d22" /><Relationship Type="http://schemas.openxmlformats.org/officeDocument/2006/relationships/slide" Target="/ppt/slides/slide2.xml" Id="Rf66bb7b73b5649ca" /><Relationship Type="http://schemas.openxmlformats.org/officeDocument/2006/relationships/slide" Target="/ppt/slides/slide3.xml" Id="Rb17d22b647d14389" /><Relationship Type="http://schemas.openxmlformats.org/officeDocument/2006/relationships/slide" Target="/ppt/slides/slide4.xml" Id="R91473d1dc01747b9" /><Relationship Type="http://schemas.openxmlformats.org/officeDocument/2006/relationships/slide" Target="/ppt/slides/slide5.xml" Id="R9edf87d140f9456e" /><Relationship Type="http://schemas.openxmlformats.org/officeDocument/2006/relationships/slide" Target="/ppt/slides/slide6.xml" Id="Re6e803f2acdc4659" /><Relationship Type="http://schemas.openxmlformats.org/officeDocument/2006/relationships/slide" Target="/ppt/slides/slide7.xml" Id="R6c52495050dd4ac2" /><Relationship Type="http://schemas.openxmlformats.org/officeDocument/2006/relationships/slide" Target="/ppt/slides/slide8.xml" Id="R650b7b879b914fda" /><Relationship Type="http://schemas.openxmlformats.org/officeDocument/2006/relationships/slide" Target="/ppt/slides/slide9.xml" Id="R8d09e0463d1e4172" /><Relationship Type="http://schemas.openxmlformats.org/officeDocument/2006/relationships/slide" Target="/ppt/slides/slide10.xml" Id="R2a4c58a34d954d99" /><Relationship Type="http://schemas.openxmlformats.org/officeDocument/2006/relationships/slide" Target="/ppt/slides/slide11.xml" Id="R8130889be0074e22" /><Relationship Type="http://schemas.openxmlformats.org/officeDocument/2006/relationships/slide" Target="/ppt/slides/slide12.xml" Id="Rd58b874403534fa3" /><Relationship Type="http://schemas.openxmlformats.org/officeDocument/2006/relationships/slide" Target="/ppt/slides/slide13.xml" Id="R98a6344bfa7043a3" /><Relationship Type="http://schemas.openxmlformats.org/officeDocument/2006/relationships/slide" Target="/ppt/slides/slide14.xml" Id="Ra273b303969c48b2" /><Relationship Type="http://schemas.openxmlformats.org/officeDocument/2006/relationships/slide" Target="/ppt/slides/slide15.xml" Id="R082365552cac42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aa78a2bb9e40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0349f125f1445d" /><Relationship Type="http://schemas.openxmlformats.org/officeDocument/2006/relationships/notesMaster" Target="/ppt/notesMasters/notesMaster1.xml" Id="R0107182f3b9747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54ec9b39414491" /><Relationship Type="http://schemas.openxmlformats.org/officeDocument/2006/relationships/notesMaster" Target="/ppt/notesMasters/notesMaster1.xml" Id="R45528efc237c4e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49cbb31ab346c3" /><Relationship Type="http://schemas.openxmlformats.org/officeDocument/2006/relationships/notesMaster" Target="/ppt/notesMasters/notesMaster1.xml" Id="Re9d94556284346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06a7adc4d94c09" /><Relationship Type="http://schemas.openxmlformats.org/officeDocument/2006/relationships/notesMaster" Target="/ppt/notesMasters/notesMaster1.xml" Id="R491b1d71c6c745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31f7554fb6401c" /><Relationship Type="http://schemas.openxmlformats.org/officeDocument/2006/relationships/notesMaster" Target="/ppt/notesMasters/notesMaster1.xml" Id="Ra57eebb31a8c44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8f5d21eb904c37" /><Relationship Type="http://schemas.openxmlformats.org/officeDocument/2006/relationships/notesMaster" Target="/ppt/notesMasters/notesMaster1.xml" Id="R37809d5fe1be4a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2624538c4044f6" /><Relationship Type="http://schemas.openxmlformats.org/officeDocument/2006/relationships/notesMaster" Target="/ppt/notesMasters/notesMaster1.xml" Id="R4df72217dced49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62c2c97c174710" /><Relationship Type="http://schemas.openxmlformats.org/officeDocument/2006/relationships/notesMaster" Target="/ppt/notesMasters/notesMaster1.xml" Id="Rdb84c3fa954345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6283ab89af4cc7" /><Relationship Type="http://schemas.openxmlformats.org/officeDocument/2006/relationships/notesMaster" Target="/ppt/notesMasters/notesMaster1.xml" Id="R7cd80a2f3dfa40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2851e2110e42d7" /><Relationship Type="http://schemas.openxmlformats.org/officeDocument/2006/relationships/notesMaster" Target="/ppt/notesMasters/notesMaster1.xml" Id="Rf81ece9e6ca649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943e1523a254669" /><Relationship Type="http://schemas.openxmlformats.org/officeDocument/2006/relationships/notesMaster" Target="/ppt/notesMasters/notesMaster1.xml" Id="R2a552a61a956413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dd75ed5cc634c54" /><Relationship Type="http://schemas.openxmlformats.org/officeDocument/2006/relationships/notesMaster" Target="/ppt/notesMasters/notesMaster1.xml" Id="R53cbe9a70000430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94c9f12f2dc4ec6" /><Relationship Type="http://schemas.openxmlformats.org/officeDocument/2006/relationships/notesMaster" Target="/ppt/notesMasters/notesMaster1.xml" Id="Rb4f5b260a3564f0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70a06ad695f49ad" /><Relationship Type="http://schemas.openxmlformats.org/officeDocument/2006/relationships/notesMaster" Target="/ppt/notesMasters/notesMaster1.xml" Id="R0f5d1db01dac4e2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0799d454c3844af" /><Relationship Type="http://schemas.openxmlformats.org/officeDocument/2006/relationships/notesMaster" Target="/ppt/notesMasters/notesMaster1.xml" Id="Rd7d12bba2ff84d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面向企业及公共组织管理者的通用决策样板：讨论 AI 能做什么、先做什么，以及如何判断是否值得推广。封面为概念性生成插画，不指代真实组织。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来源：OrgAI Blueprint/BLUEPRINT_PLAN.md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先明确业务目标和约束，再比较方案、安排试点、审阅结果。企业和公共组织可共同关注服务质量，但公共价值还需看公平性与可及性。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来源：OrgAI Blueprint/BLUEPRINT_PLAN.md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九类是可重叠的任务地图，而非必须分别采购的九套产品。同一个业务流程可能同时包含知识查询、文档处理和自动化。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来源：OrgAI Blueprint/docs/02-application-landscape/00-application-map.md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技术选型从业务问题出发。预测与优化并不等同，生成模型也不应成为每个问题的默认答案。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来源：OrgAI Blueprint/docs/01-tech-landscape/01-tech-map.md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提示工程、检索增强生成和微调作用于不同层次。先测试现有模型和搜索基线；知识频繁变化时考虑检索，重复行为不能稳定满足要求时再评估微调。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来源：OrgAI Blueprint/docs/01-tech-landscape/04-prompt-rag-finetune.md；RAG 原论文 https://papers.nips.cc/paper/2020/hash/6b493230205f780e1bc26945df7481e5-Abstract.html ；LoRA https://arxiv.org/abs/2106.09685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示意场景。先比较当前门户、关键词搜索和人工咨询，再测试 RAG 是否能改善综合问答。无证据、版本冲突或权限不足时应拒答或升级。指标和阈值待实际组织确定。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来源：OrgAI Blueprint/docs/03-org-scenarios/scenarios/01-knowledge-assistant.md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示意场景。使用人工、现有 OCR 和规则作为基线；多版式和复杂语义任务可评估模型辅助。付款、资格或处罚等正式决定由授权人员承担。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来源：OrgAI Blueprint/docs/03-org-scenarios/scenarios/02-document-processing.md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风险门槛包括责任、授权、权限、控制和适用要求。只有通过的真实业务场景才进入优先级排序。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来源：OrgAI Blueprint/docs/03-org-scenarios/06-prioritization.md；OrgAI Blueprint/docs/08-governance/01-risk-framework.md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明确基线、对照和评价期间；优先随机分组，不可行时说明匹配或分阶段比较的限制。质量、运营、风险、服务和成本需一同判断。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来源：OrgAI Blueprint/docs/06-evaluation/01-value-framework.md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一年处理 12,000 份，原录入每份减少 8 分钟，得到 1,600 小时毛节约。按每小时 180 元和 25% 可兑现比例得到 72,000 元；额外复核 200 小时 36,000 元已单独计入新增成本。不要将工时价值重复作为现金收益。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来源：OrgAI Blueprint/docs/06-evaluation/02-roi-model.md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治理贯穿立项、试点、运营。业务负责人对用途与流程结果负责，技术、数据、评估和风险角色各自承担工作。法规需按具体事实核查。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来源：OrgAI Blueprint/docs/08-governance/01-risk-framework.md；NIST AI RMF https://www.nist.gov/publications/artificial-intelligence-risk-management-framework-ai-rmf-10 ；NIST GenAI Profile https://nvlpubs.nist.gov/nistpubs/ai/NIST.AI.600-1.pdf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CIO 团队称 60 天完成 alpha，2024 年 1 月向全球 28 万余员工开放；5 月发布 beta。来源是 IBM 自身案例宣传；未披露经过对照验证的生产率效果。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来源：IBM AskIBM https://www.ibm.com/case-studies/askibm；OrgAI Blueprint/docs/05-cases/cases/case-01-enterprise.md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试验为 2024 年 10 月至 2025 年 3 月，分配 3,549 个许可；问卷回复为用户组 1,716、对照组 2,535。官方回归估计八类任务日均节省 19 分钟，存在自报、非随机与无前测限制。未覆盖一线 Jobcentre 人员。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来源：DWP 官方评估 https://www.gov.uk/government/publications/an-evaluation-of-dwps-microsoft-copilot-365-trial/an-evaluation-of-dwps-microsoft-365-copilot-trial ；OrgAI Blueprint/docs/05-cases/cases/case-02-public-sector.md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每个节点应有业务、技术、数据、评估和风险责任。演示或一次模型测评不能单独证明业务价值。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来源：OrgAI Blueprint/BLUEPRINT_PLAN.md；OrgAI Blueprint/docs/06-evaluation/01-value-framework.md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如果数据、权限或责任条件不足，先补齐条件；本资料不替任何组织作出立项决定。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来源：OrgAI Blueprint/BLUEPRINT_PLAN.md；OrgAI Blueprint/docs/03-org-scenarios/06-prioritization.md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e6550f1310493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38be5bc5de40a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0e2ee75bc64e9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c2ce68edf14c4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751108834d42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cdd7ab21e04c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1F36A7-AEC4-463A-B5C3-4B6AB97EBD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FEF3320-BFAB-4BA6-A474-9C34BE6836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C096BF1-D3DE-4065-B64A-0F051207FC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61D8DA-8C67-40BC-9CEB-3D3D5DE36D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901A2E5-0D03-4180-B1ED-7E06FC88E9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6C604E5-E0D1-4A10-B038-EB5E217942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DEE637-1F35-4A0A-8742-E7EA732A00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2C1C8F7-6975-46E0-8835-30B22E867F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01DB8F-3126-4C86-A77A-CE26082C04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C2A08B0-7A70-4872-A621-DD55F5F1BB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b248bfeeea4680" /><Relationship Type="http://schemas.openxmlformats.org/officeDocument/2006/relationships/slideLayout" Target="/ppt/slideLayouts/slideLayout1.xml" Id="Raba0bf35e2844431" /><Relationship Type="http://schemas.openxmlformats.org/officeDocument/2006/relationships/slideLayout" Target="/ppt/slideLayouts/slideLayout2.xml" Id="Rac9493046dfc4e41" /><Relationship Type="http://schemas.openxmlformats.org/officeDocument/2006/relationships/slideLayout" Target="/ppt/slideLayouts/slideLayout3.xml" Id="R64da63644c144ea8" /><Relationship Type="http://schemas.openxmlformats.org/officeDocument/2006/relationships/slideLayout" Target="/ppt/slideLayouts/slideLayout4.xml" Id="R849eebad00964deb" /><Relationship Type="http://schemas.openxmlformats.org/officeDocument/2006/relationships/slideLayout" Target="/ppt/slideLayouts/slideLayout5.xml" Id="R52ec79c14163485c" /><Relationship Type="http://schemas.openxmlformats.org/officeDocument/2006/relationships/slideLayout" Target="/ppt/slideLayouts/slideLayout6.xml" Id="Rde35d558973048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a0bf35e2844431"/>
    <p:sldLayoutId xmlns:r="http://schemas.openxmlformats.org/officeDocument/2006/relationships" id="2147483650" r:id="Rac9493046dfc4e41"/>
    <p:sldLayoutId xmlns:r="http://schemas.openxmlformats.org/officeDocument/2006/relationships" id="2147483651" r:id="R64da63644c144ea8"/>
    <p:sldLayoutId xmlns:r="http://schemas.openxmlformats.org/officeDocument/2006/relationships" id="2147483652" r:id="R849eebad00964deb"/>
    <p:sldLayoutId xmlns:r="http://schemas.openxmlformats.org/officeDocument/2006/relationships" id="2147483653" r:id="R52ec79c14163485c"/>
    <p:sldLayoutId xmlns:r="http://schemas.openxmlformats.org/officeDocument/2006/relationships" id="2147483654" r:id="Rde35d558973048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5e465735fe4658" /><Relationship Type="http://schemas.openxmlformats.org/officeDocument/2006/relationships/image" Target="/ppt/media/image.png" Id="R062061fd9df14d3d" /><Relationship Type="http://schemas.openxmlformats.org/officeDocument/2006/relationships/notesSlide" Target="/ppt/notesSlides/notesSlide1.xml" Id="R822a1eb22ef246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cead5d039e4408" /><Relationship Type="http://schemas.openxmlformats.org/officeDocument/2006/relationships/notesSlide" Target="/ppt/notesSlides/notesSlide2.xml" Id="Rff0e71a22db948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0ffcb6cc6e49be" /><Relationship Type="http://schemas.openxmlformats.org/officeDocument/2006/relationships/notesSlide" Target="/ppt/notesSlides/notesSlide3.xml" Id="R3e2ea11eb4e248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47bdb1bb3041bd" /><Relationship Type="http://schemas.openxmlformats.org/officeDocument/2006/relationships/notesSlide" Target="/ppt/notesSlides/notesSlide4.xml" Id="R5a8ab6fb7f3d40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67d7df7a5a4dff" /><Relationship Type="http://schemas.openxmlformats.org/officeDocument/2006/relationships/notesSlide" Target="/ppt/notesSlides/notesSlide5.xml" Id="R7858b626bfe14a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dbd4143fb244bf" /><Relationship Type="http://schemas.openxmlformats.org/officeDocument/2006/relationships/notesSlide" Target="/ppt/notesSlides/notesSlide6.xml" Id="R4af4a0e57f0d47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64578c8a6c4128" /><Relationship Type="http://schemas.openxmlformats.org/officeDocument/2006/relationships/notesSlide" Target="/ppt/notesSlides/notesSlide7.xml" Id="Re202033adb1647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1d0fd002044fb0" /><Relationship Type="http://schemas.openxmlformats.org/officeDocument/2006/relationships/notesSlide" Target="/ppt/notesSlides/notesSlide8.xml" Id="Rf800d86fddc44c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4c720c394c4af5" /><Relationship Type="http://schemas.openxmlformats.org/officeDocument/2006/relationships/notesSlide" Target="/ppt/notesSlides/notesSlide9.xml" Id="Rd2bb94c2542b4f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85658262304ccf" /><Relationship Type="http://schemas.openxmlformats.org/officeDocument/2006/relationships/notesSlide" Target="/ppt/notesSlides/notesSlide10.xml" Id="R41bb446b945f481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1122baecb4470b" /><Relationship Type="http://schemas.openxmlformats.org/officeDocument/2006/relationships/notesSlide" Target="/ppt/notesSlides/notesSlide11.xml" Id="Ra17bb7c87fbb4e8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ef8c798500452d" /><Relationship Type="http://schemas.openxmlformats.org/officeDocument/2006/relationships/notesSlide" Target="/ppt/notesSlides/notesSlide12.xml" Id="R402af983599b4b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8ff73cee364148" /><Relationship Type="http://schemas.openxmlformats.org/officeDocument/2006/relationships/notesSlide" Target="/ppt/notesSlides/notesSlide13.xml" Id="R1380962239db45c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48acd93eb14efd" /><Relationship Type="http://schemas.openxmlformats.org/officeDocument/2006/relationships/notesSlide" Target="/ppt/notesSlides/notesSlide14.xml" Id="R060f464c7623454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33c959cccb4f7d" /><Relationship Type="http://schemas.openxmlformats.org/officeDocument/2006/relationships/notesSlide" Target="/ppt/notesSlides/notesSlide15.xml" Id="Rb0e1030b942c4e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C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51A6E-5714-4498-844F-80FCBB064B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061fd9df14d3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83885-3DF4-4137-9266-AF89A352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A6DAD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A6DAD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A6DAD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A6DAD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A6DAD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A6DAD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A6DAD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A6DAD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A6DAD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A6DAD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A6DA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6DADE"/>
                </a:solidFill>
                <a:latin typeface="Microsoft YaHei"/>
                <a:ea typeface="Microsoft YaHei"/>
                <a:cs typeface="Microsoft YaHei"/>
              </a:rPr>
              <a:t>OrgAI  /  管理者版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F6A0D-5D50-430B-9B21-8810C9DA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676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 AI 应用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93082-BC86-4694-AA8C-EB4C519E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0">
                <a:solidFill>
                  <a:srgbClr val="DCEAF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0">
                <a:solidFill>
                  <a:srgbClr val="DCEAF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0">
                <a:solidFill>
                  <a:srgbClr val="DCEAF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0">
                <a:solidFill>
                  <a:srgbClr val="DCEAF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0">
                <a:solidFill>
                  <a:srgbClr val="DCEAF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0">
                <a:solidFill>
                  <a:srgbClr val="DCEAF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0">
                <a:solidFill>
                  <a:srgbClr val="DCEAF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0">
                <a:solidFill>
                  <a:srgbClr val="DCEAF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0">
                <a:solidFill>
                  <a:srgbClr val="DCEAF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0">
                <a:solidFill>
                  <a:srgbClr val="DCEAF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DCEA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DCEAF3"/>
                </a:solidFill>
                <a:latin typeface="Microsoft YaHei"/>
                <a:ea typeface="Microsoft YaHei"/>
                <a:cs typeface="Microsoft YaHei"/>
              </a:rPr>
              <a:t>从业务问题到可验证结果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AEABB-21E4-45D3-A756-8B2F064F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1DD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D1DD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D1DD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D1DD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D1DD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D1DD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D1DD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D1DD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D1DD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D1DD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D1DD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1DDE9"/>
                </a:solidFill>
                <a:latin typeface="Microsoft YaHei"/>
                <a:ea typeface="Microsoft YaHei"/>
                <a:cs typeface="Microsoft YaHei"/>
              </a:rPr>
              <a:t>应用全景 · 场景选择 · 试点评估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6E191-CC77-4CA0-A422-B2193B90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审阅初稿  |  2026.10</a:t>
            </a:r>
          </a:p>
        </p:txBody>
      </p:sp>
    </p:spTree>
    <p:extLst>
      <p:ext uri="{BB962C8B-B14F-4D97-AF65-F5344CB8AC3E}">
        <p14:creationId xmlns:p14="http://schemas.microsoft.com/office/powerpoint/2010/main" val="5342534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63595D-CF13-4729-A6E3-7219F478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管理者版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DB72B2-2A53-412F-9378-2C17672C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四个管理决策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EAD0F-D246-4A07-8CC0-AC09060C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97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6914F-8BAD-48DA-BD04-BF9987F3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62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7F1A3-3393-4533-BE2B-BD51A620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0617A-E606-4B70-B68C-9EF95E24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2552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E3409-0A20-4C6F-A069-761A68FA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255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8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8E3450-A80C-426E-B285-AE498039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2552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要改善什么结果？</a:t>
            </a:r>
          </a:p>
          <a:p xmlns:a="http://schemas.openxmlformats.org/drawingml/2006/main">
            <a: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谁受到影响？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32A33D-F33D-4BBA-ADC2-A232F53C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61F8E4-F7F5-4E55-98EA-06548E93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2552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方案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094DE5-10B0-4149-AE42-25269DC8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28950"/>
            <a:ext cx="255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8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DD68B1-A3C2-44A5-97EA-09A01C38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90875"/>
            <a:ext cx="2552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现有做法与 AI 方案</a:t>
            </a:r>
          </a:p>
          <a:p xmlns:a="http://schemas.openxmlformats.org/drawingml/2006/main">
            <a: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各有哪些边界？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054C84-D6B7-4840-9223-68BC369A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573133-58DB-4DA5-AEB1-00D33B70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66975"/>
            <a:ext cx="2552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试点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C25F8E-8A35-490E-93D1-1A18DEEE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28950"/>
            <a:ext cx="255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739B90-9D67-4C0F-9C6F-3F3F635C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90875"/>
            <a:ext cx="2552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数据、责任、风险与</a:t>
            </a:r>
          </a:p>
          <a:p xmlns:a="http://schemas.openxmlformats.org/drawingml/2006/main">
            <a: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评价条件是否明确？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989545-214D-48F8-A005-FDFC99C5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52625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47C0EF-BC7F-401C-A456-D25465A3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66975"/>
            <a:ext cx="2552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复盘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8EC6B5-9762-444C-A8AD-25372D7E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28950"/>
            <a:ext cx="255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8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09C30F-5071-4FFE-A63F-8224BA9A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90875"/>
            <a:ext cx="2552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质量、成本和体验</a:t>
            </a:r>
          </a:p>
          <a:p xmlns:a="http://schemas.openxmlformats.org/drawingml/2006/main">
            <a: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是否支持继续？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35268F-D891-4572-AD22-A5B53E5A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价值视角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D9F9F9-411C-4A85-8FE7-210FEBB2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33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企业：质量、成本、收入与体验     公共组织：服务质量、公平与可及性</a:t>
            </a:r>
          </a:p>
        </p:txBody>
      </p:sp>
    </p:spTree>
    <p:extLst>
      <p:ext uri="{BB962C8B-B14F-4D97-AF65-F5344CB8AC3E}">
        <p14:creationId xmlns:p14="http://schemas.microsoft.com/office/powerpoint/2010/main" val="19522822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366258-07E1-439E-8DCB-D8D77CE8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管理者版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8C7F9-F134-4DBB-9967-98F101F2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组织 AI 应用地图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7C920-03AA-4C4E-88C3-3CCBC80B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97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12DE5-642A-49A9-BA3A-2B586AAB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62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D4E19-FBBE-48DE-BCAD-99336F3E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328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知识与交互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5584A-64AF-4E1C-BA36-E268C3EA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9557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2C910-873E-427B-A51C-4BAE8E16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知识查询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80412-7C42-42BE-801C-916B5FD4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F00665-2B66-4F5A-A996-2CE8C70A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528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内容生成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623FCA-558C-4083-A1B2-3C478969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9B0906-5C20-49CD-83A9-B42793FC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767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客服与交互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4880A4-6440-4A47-9E27-31D24921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47875"/>
            <a:ext cx="328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分析与流程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F34C84-1DAD-4C40-A4AF-10609C2A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9557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D7AAA9-9004-4880-A340-5E42A2C9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289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文档处理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60AD4B-FFFC-4B7F-BA0F-C506B0B7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1947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9F7532-5053-4B76-BF81-7FBD140A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528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数据分析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153343-E002-48CA-AA53-8B18CB40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4337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F3BC46-BEBB-42F7-AE7F-89F837B5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767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流程自动化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9303F5-5CF0-41D6-A2E3-804BCC78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47875"/>
            <a:ext cx="328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专业能力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7D5E1E-B74F-444D-B22C-D879F984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9557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8E6ABD-B242-4F26-A537-FE9C115D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289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研发与 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DB6718-1AE4-487B-8270-E9C6D8D5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1947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3D55F8-846D-4AC4-BE80-70A1A1C1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528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预测与优化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9CB6F4-731D-4170-B3AA-1BEFFF78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4337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303BC5-55D0-43CD-A991-3CC2EE62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767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视觉与语音感知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5CF3EC-EC18-4B75-B362-778806C0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应用形态可以组合；先确定具体工作与现行基线。</a:t>
            </a:r>
          </a:p>
        </p:txBody>
      </p:sp>
    </p:spTree>
    <p:extLst>
      <p:ext uri="{BB962C8B-B14F-4D97-AF65-F5344CB8AC3E}">
        <p14:creationId xmlns:p14="http://schemas.microsoft.com/office/powerpoint/2010/main" val="9570349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FB0468-2C73-43F9-8896-C3E59053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管理者版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748F7-3238-40BC-9AC5-06F45956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业务问题决定技术选择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FB31B-3485-418C-987F-99F81081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97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97192-76D6-42EF-B47F-3241A9BF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62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A06EB2-F336-4A20-BF64-B9A9C918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问题类型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788AA-7E12-4B0B-A124-864A4064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859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优先比较的方案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82E28D-7F81-44DF-BDE0-06E4A9E8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859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决策关注点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FFCBE-0619-4DAD-953C-F9384C76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764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D3D7C-878C-4ADE-8E42-E1D15A4C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52675"/>
            <a:ext cx="328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规则明确、步骤稳定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C70ECD-25F8-4C49-8FFA-B5908358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52675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rPr>
              <a:t>规则、现有软件、流程自动化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9D23B-6BA4-4144-A796-0F0AD01A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5267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可解释、便于验证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A8E0E8-F380-481B-B317-492A4A0F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4F09AF-7F38-4108-8C2B-1A9E2BAA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2775"/>
            <a:ext cx="328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预测、分类或预警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72655F-CEC5-47A9-8AD5-38AEEA89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52775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rPr>
              <a:t>统计方法、传统机器学习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164E6E-4098-4DE1-BB6D-767C6FA5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5277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比较误差与简单基线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7EB1F4-F05C-4BF5-BEB0-5781DFAF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153AC3-CBA5-4FB4-B62C-BCC0537C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328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资源分配与排程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BDA953-ADB6-49C9-A7F3-9FA80A0B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52875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rPr>
              <a:t>数学优化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30750C-98D9-4882-B758-F4646261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95287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先明确目标和约束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8376B4-6FC9-415D-BA9B-E28657E5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2D05A5-B6A8-496B-BCEB-EB077454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52975"/>
            <a:ext cx="328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语言、知识与内容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F04FAD-B79D-4CDD-96FC-25A13AB2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52975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rPr>
              <a:t>大语言模型，按需结合检索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1E5A40-4437-4353-8598-694639E1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75297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检查出处、错误和责任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C88096-54B3-4F8E-A225-B0B5EEFB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不同方法可以组合，选择应由任务效果和完整成本决定。</a:t>
            </a:r>
          </a:p>
        </p:txBody>
      </p:sp>
    </p:spTree>
    <p:extLst>
      <p:ext uri="{BB962C8B-B14F-4D97-AF65-F5344CB8AC3E}">
        <p14:creationId xmlns:p14="http://schemas.microsoft.com/office/powerpoint/2010/main" val="168014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D1D871-2B2C-4F53-87E1-33C2321A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管理者版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2FDAB7-8B33-4BCA-BC8D-FC4CF87D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提示、RAG 与微调的分工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43519-F345-4BA1-B67A-C2DCDDD1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97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188AF-DBB3-427F-AB0A-EF445694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62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47B345-24FA-4C76-A13A-76E8A4328906}"/>
              </a:ext>
            </a:extLst>
          </p:cNvPr>
          <p:cNvGraphicFramePr/>
          <p:nvPr/>
        </p:nvGraphicFramePr>
        <p:xfrm>
          <a:off xmlns:a="http://schemas.openxmlformats.org/drawingml/2006/main" x="666750" y="1933575"/>
          <a:ext xmlns:a="http://schemas.openxmlformats.org/drawingml/2006/main" cx="10858500" cy="34290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524000"/>
                <a:gridCol w="2819400"/>
                <a:gridCol w="3581400"/>
                <a:gridCol w="2933700"/>
              </a:tblGrid>
              <a:tr h="685800">
                <a:tc>
                  <a:txBody>
                    <a:bodyPr wrap="square" lIns="76200" tIns="76200" rIns="76200" bIns="76200"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DD8E2"/>
                      </a:solidFill>
                      <a:prstDash val="solid"/>
                    </a:lnL>
                    <a:lnR w="9525">
                      <a:solidFill>
                        <a:srgbClr val="CDD8E2"/>
                      </a:solidFill>
                      <a:prstDash val="solid"/>
                    </a:lnR>
                    <a:lnT w="9525">
                      <a:solidFill>
                        <a:srgbClr val="CDD8E2"/>
                      </a:solidFill>
                      <a:prstDash val="solid"/>
                    </a:lnT>
                    <a:lnB w="9525">
                      <a:solidFill>
                        <a:srgbClr val="CDD8E2"/>
                      </a:solidFill>
                      <a:prstDash val="solid"/>
                    </a:lnB>
                    <a:solidFill>
                      <a:srgbClr val="081C36"/>
                    </a:solidFill>
                  </a:tcPr>
                </a:tc>
                <a:tc>
                  <a:txBody>
                    <a:bodyPr wrap="square" lIns="76200" tIns="76200" rIns="76200" bIns="76200"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提示工程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DD8E2"/>
                      </a:solidFill>
                      <a:prstDash val="solid"/>
                    </a:lnR>
                    <a:lnT w="9525">
                      <a:solidFill>
                        <a:srgbClr val="CDD8E2"/>
                      </a:solidFill>
                      <a:prstDash val="solid"/>
                    </a:lnT>
                    <a:lnB w="9525">
                      <a:solidFill>
                        <a:srgbClr val="CDD8E2"/>
                      </a:solidFill>
                      <a:prstDash val="solid"/>
                    </a:lnB>
                    <a:solidFill>
                      <a:srgbClr val="081C36"/>
                    </a:solidFill>
                  </a:tcPr>
                </a:tc>
                <a:tc>
                  <a:txBody>
                    <a:bodyPr wrap="square" lIns="76200" tIns="76200" rIns="76200" bIns="76200"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RAG（检索增强生成）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DD8E2"/>
                      </a:solidFill>
                      <a:prstDash val="solid"/>
                    </a:lnR>
                    <a:lnT w="9525">
                      <a:solidFill>
                        <a:srgbClr val="CDD8E2"/>
                      </a:solidFill>
                      <a:prstDash val="solid"/>
                    </a:lnT>
                    <a:lnB w="9525">
                      <a:solidFill>
                        <a:srgbClr val="CDD8E2"/>
                      </a:solidFill>
                      <a:prstDash val="solid"/>
                    </a:lnB>
                    <a:solidFill>
                      <a:srgbClr val="081C36"/>
                    </a:solidFill>
                  </a:tcPr>
                </a:tc>
                <a:tc>
                  <a:txBody>
                    <a:bodyPr wrap="square" lIns="76200" tIns="76200" rIns="76200" bIns="76200"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微调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DD8E2"/>
                      </a:solidFill>
                      <a:prstDash val="solid"/>
                    </a:lnR>
                    <a:lnT w="9525">
                      <a:solidFill>
                        <a:srgbClr val="CDD8E2"/>
                      </a:solidFill>
                      <a:prstDash val="solid"/>
                    </a:lnT>
                    <a:lnB w="9525">
                      <a:solidFill>
                        <a:srgbClr val="CDD8E2"/>
                      </a:solidFill>
                      <a:prstDash val="solid"/>
                    </a:lnB>
                    <a:solidFill>
                      <a:srgbClr val="081C36"/>
                    </a:solidFill>
                  </a:tcPr>
                </a:tc>
              </a:tr>
              <a:tr h="685800">
                <a:tc>
                  <a:txBody>
                    <a:bodyPr wrap="square" lIns="76200" tIns="76200" rIns="76200" bIns="76200">
                      <a:normAutofit/>
                    </a:bodyPr>
                    <a:lstStyle/>
                    <a:p>
                      <a:r>
                        <a:rPr sz="1575" b="1">
                          <a:solidFill>
                            <a:srgbClr val="1126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主要作用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DD8E2"/>
                      </a:solidFill>
                      <a:prstDash val="solid"/>
                    </a:lnL>
                    <a:lnR w="9525">
                      <a:solidFill>
                        <a:srgbClr val="CDD8E2"/>
                      </a:solidFill>
                      <a:prstDash val="solid"/>
                    </a:lnR>
                    <a:lnB w="9525">
                      <a:solidFill>
                        <a:srgbClr val="CD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76200" rIns="76200" bIns="76200">
                      <a:normAutofit/>
                    </a:bodyPr>
                    <a:lstStyle/>
                    <a:p>
                      <a:r>
                        <a:rPr sz="1575" b="0">
                          <a:solidFill>
                            <a:srgbClr val="1126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交代任务和格式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DD8E2"/>
                      </a:solidFill>
                      <a:prstDash val="solid"/>
                    </a:lnR>
                    <a:lnB w="9525">
                      <a:solidFill>
                        <a:srgbClr val="CD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76200" rIns="76200" bIns="76200">
                      <a:normAutofit/>
                    </a:bodyPr>
                    <a:lstStyle/>
                    <a:p>
                      <a:r>
                        <a:rPr sz="1575" b="0">
                          <a:solidFill>
                            <a:srgbClr val="1126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检索外部资料，再生成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DD8E2"/>
                      </a:solidFill>
                      <a:prstDash val="solid"/>
                    </a:lnR>
                    <a:lnB w="9525">
                      <a:solidFill>
                        <a:srgbClr val="CD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76200" rIns="76200" bIns="76200">
                      <a:normAutofit/>
                    </a:bodyPr>
                    <a:lstStyle/>
                    <a:p>
                      <a:r>
                        <a:rPr sz="1575" b="0">
                          <a:solidFill>
                            <a:srgbClr val="1126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用样例调整模型行为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DD8E2"/>
                      </a:solidFill>
                      <a:prstDash val="solid"/>
                    </a:lnR>
                    <a:lnB w="9525">
                      <a:solidFill>
                        <a:srgbClr val="CD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6200" tIns="76200" rIns="76200" bIns="76200">
                      <a:normAutofit/>
                    </a:bodyPr>
                    <a:lstStyle/>
                    <a:p>
                      <a:r>
                        <a:rPr sz="1575" b="1">
                          <a:solidFill>
                            <a:srgbClr val="1126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优先考虑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DD8E2"/>
                      </a:solidFill>
                      <a:prstDash val="solid"/>
                    </a:lnL>
                    <a:lnR w="9525">
                      <a:solidFill>
                        <a:srgbClr val="CDD8E2"/>
                      </a:solidFill>
                      <a:prstDash val="solid"/>
                    </a:lnR>
                    <a:lnB w="9525">
                      <a:solidFill>
                        <a:srgbClr val="CDD8E2"/>
                      </a:solidFill>
                      <a:prstDash val="soli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wrap="square" lIns="76200" tIns="76200" rIns="76200" bIns="76200">
                      <a:normAutofit/>
                    </a:bodyPr>
                    <a:lstStyle/>
                    <a:p>
                      <a:r>
                        <a:rPr sz="1575" b="0">
                          <a:solidFill>
                            <a:srgbClr val="1126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任务边界与输出要求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DD8E2"/>
                      </a:solidFill>
                      <a:prstDash val="solid"/>
                    </a:lnR>
                    <a:lnB w="9525">
                      <a:solidFill>
                        <a:srgbClr val="CDD8E2"/>
                      </a:solidFill>
                      <a:prstDash val="soli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wrap="square" lIns="76200" tIns="76200" rIns="76200" bIns="76200">
                      <a:normAutofit/>
                    </a:bodyPr>
                    <a:lstStyle/>
                    <a:p>
                      <a:r>
                        <a:rPr sz="1575" b="0">
                          <a:solidFill>
                            <a:srgbClr val="1126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知识变化、需要来源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DD8E2"/>
                      </a:solidFill>
                      <a:prstDash val="solid"/>
                    </a:lnR>
                    <a:lnB w="9525">
                      <a:solidFill>
                        <a:srgbClr val="CDD8E2"/>
                      </a:solidFill>
                      <a:prstDash val="soli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wrap="square" lIns="76200" tIns="76200" rIns="76200" bIns="76200">
                      <a:normAutofit/>
                    </a:bodyPr>
                    <a:lstStyle/>
                    <a:p>
                      <a:r>
                        <a:rPr sz="1575" b="0">
                          <a:solidFill>
                            <a:srgbClr val="1126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重复任务行为不稳定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DD8E2"/>
                      </a:solidFill>
                      <a:prstDash val="solid"/>
                    </a:lnR>
                    <a:lnB w="9525">
                      <a:solidFill>
                        <a:srgbClr val="CDD8E2"/>
                      </a:solidFill>
                      <a:prstDash val="solid"/>
                    </a:lnB>
                    <a:solidFill>
                      <a:srgbClr val="EAF1F7"/>
                    </a:solidFill>
                  </a:tcPr>
                </a:tc>
              </a:tr>
              <a:tr h="685800">
                <a:tc>
                  <a:txBody>
                    <a:bodyPr wrap="square" lIns="76200" tIns="76200" rIns="76200" bIns="76200">
                      <a:normAutofit/>
                    </a:bodyPr>
                    <a:lstStyle/>
                    <a:p>
                      <a:r>
                        <a:rPr sz="1575" b="1">
                          <a:solidFill>
                            <a:srgbClr val="1126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关键投入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DD8E2"/>
                      </a:solidFill>
                      <a:prstDash val="solid"/>
                    </a:lnL>
                    <a:lnR w="9525">
                      <a:solidFill>
                        <a:srgbClr val="CDD8E2"/>
                      </a:solidFill>
                      <a:prstDash val="solid"/>
                    </a:lnR>
                    <a:lnB w="9525">
                      <a:solidFill>
                        <a:srgbClr val="CD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76200" rIns="76200" bIns="76200">
                      <a:normAutofit/>
                    </a:bodyPr>
                    <a:lstStyle/>
                    <a:p>
                      <a:r>
                        <a:rPr sz="1575" b="0">
                          <a:solidFill>
                            <a:srgbClr val="1126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指令设计、测试与维护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DD8E2"/>
                      </a:solidFill>
                      <a:prstDash val="solid"/>
                    </a:lnR>
                    <a:lnB w="9525">
                      <a:solidFill>
                        <a:srgbClr val="CD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76200" rIns="76200" bIns="76200">
                      <a:normAutofit/>
                    </a:bodyPr>
                    <a:lstStyle/>
                    <a:p>
                      <a:r>
                        <a:rPr sz="1575" b="0">
                          <a:solidFill>
                            <a:srgbClr val="1126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资料、检索、权限、更新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DD8E2"/>
                      </a:solidFill>
                      <a:prstDash val="solid"/>
                    </a:lnR>
                    <a:lnB w="9525">
                      <a:solidFill>
                        <a:srgbClr val="CD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76200" rIns="76200" bIns="76200">
                      <a:normAutofit/>
                    </a:bodyPr>
                    <a:lstStyle/>
                    <a:p>
                      <a:r>
                        <a:rPr sz="1575" b="0">
                          <a:solidFill>
                            <a:srgbClr val="1126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样例、训练和回归评估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DD8E2"/>
                      </a:solidFill>
                      <a:prstDash val="solid"/>
                    </a:lnR>
                    <a:lnB w="9525">
                      <a:solidFill>
                        <a:srgbClr val="CD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6200" tIns="76200" rIns="76200" bIns="76200">
                      <a:normAutofit/>
                    </a:bodyPr>
                    <a:lstStyle/>
                    <a:p>
                      <a:r>
                        <a:rPr sz="1575" b="1">
                          <a:solidFill>
                            <a:srgbClr val="1126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主要边界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DD8E2"/>
                      </a:solidFill>
                      <a:prstDash val="solid"/>
                    </a:lnL>
                    <a:lnR w="9525">
                      <a:solidFill>
                        <a:srgbClr val="CDD8E2"/>
                      </a:solidFill>
                      <a:prstDash val="solid"/>
                    </a:lnR>
                    <a:lnB w="9525">
                      <a:solidFill>
                        <a:srgbClr val="CDD8E2"/>
                      </a:solidFill>
                      <a:prstDash val="soli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wrap="square" lIns="76200" tIns="76200" rIns="76200" bIns="76200">
                      <a:normAutofit/>
                    </a:bodyPr>
                    <a:lstStyle/>
                    <a:p>
                      <a:r>
                        <a:rPr sz="1575" b="0">
                          <a:solidFill>
                            <a:srgbClr val="1126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不保证事实正确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DD8E2"/>
                      </a:solidFill>
                      <a:prstDash val="solid"/>
                    </a:lnR>
                    <a:lnB w="9525">
                      <a:solidFill>
                        <a:srgbClr val="CDD8E2"/>
                      </a:solidFill>
                      <a:prstDash val="soli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wrap="square" lIns="76200" tIns="76200" rIns="76200" bIns="76200">
                      <a:normAutofit/>
                    </a:bodyPr>
                    <a:lstStyle/>
                    <a:p>
                      <a:r>
                        <a:rPr sz="1575" b="0">
                          <a:solidFill>
                            <a:srgbClr val="1126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检索和回答都可能出错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DD8E2"/>
                      </a:solidFill>
                      <a:prstDash val="solid"/>
                    </a:lnR>
                    <a:lnB w="9525">
                      <a:solidFill>
                        <a:srgbClr val="CDD8E2"/>
                      </a:solidFill>
                      <a:prstDash val="soli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wrap="square" lIns="76200" tIns="76200" rIns="76200" bIns="76200">
                      <a:normAutofit/>
                    </a:bodyPr>
                    <a:lstStyle/>
                    <a:p>
                      <a:r>
                        <a:rPr sz="1575" b="0">
                          <a:solidFill>
                            <a:srgbClr val="1126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不是实时知识更新机制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DD8E2"/>
                      </a:solidFill>
                      <a:prstDash val="solid"/>
                    </a:lnR>
                    <a:lnB w="9525">
                      <a:solidFill>
                        <a:srgbClr val="CDD8E2"/>
                      </a:solidFill>
                      <a:prstDash val="solid"/>
                    </a:lnB>
                    <a:solidFill>
                      <a:srgbClr val="EAF1F7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20446-A6C5-4D66-BA0B-35443C28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三种方法可以组合，均不能单独保证正确或权限合规。</a:t>
            </a:r>
          </a:p>
        </p:txBody>
      </p:sp>
    </p:spTree>
    <p:extLst>
      <p:ext uri="{BB962C8B-B14F-4D97-AF65-F5344CB8AC3E}">
        <p14:creationId xmlns:p14="http://schemas.microsoft.com/office/powerpoint/2010/main" val="1406864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BD4FE0-21B3-44C4-9968-E9693598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场景示意  ·  非真实项目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F297F-8E81-4C50-BF95-C33EAED2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示意场景：内部知识查询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FCDB7-67D5-49EC-B368-1CBC5362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97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C4C23-B0B1-4388-B75F-2C9629F0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62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A60FAC-B4ED-429B-9113-9577AA51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33575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B15AC-630A-4AF0-9EB9-D5248114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47925"/>
            <a:ext cx="2552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提出问题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77391-9301-4B1E-A0ED-D4BD537A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255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8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55C4D-C429-4736-A8AC-8794C5C4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2552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聚焦一个知识域</a:t>
            </a:r>
          </a:p>
          <a:p xmlns:a="http://schemas.openxmlformats.org/drawingml/2006/main">
            <a: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保留现有搜索基线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CE71E-C740-4F56-9DD6-A9DDB780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33575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1DA732-885F-49E9-ACE8-A28BBD95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47925"/>
            <a:ext cx="2552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授权检索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AEC2E9-922D-4175-98B4-CD002F2F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09900"/>
            <a:ext cx="255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8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2908E2-507A-4A38-87F2-43F9374C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71825"/>
            <a:ext cx="2552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按身份查找</a:t>
            </a:r>
          </a:p>
          <a:p xmlns:a="http://schemas.openxmlformats.org/drawingml/2006/main">
            <a: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有效版本的资料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FC97D0-9BDE-46F5-93DD-FE4A3D5C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33575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95F0DB-ED41-48FA-AB75-E34DD4C7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47925"/>
            <a:ext cx="2552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形成回答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1DD872-F603-4969-AA32-C2D919D2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9900"/>
            <a:ext cx="255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5905E3-1789-4EED-A8E8-B707F0A4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71825"/>
            <a:ext cx="2552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基于证据拟答</a:t>
            </a:r>
          </a:p>
          <a:p xmlns:a="http://schemas.openxmlformats.org/drawingml/2006/main">
            <a: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展示出处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B014D5-F3BC-4649-8330-D2D3BDC7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33575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BA4A69-7827-412C-8FBC-9DB6231C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47925"/>
            <a:ext cx="2552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人工升级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E689AA-DBF8-4CD6-B51F-D0482B96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09900"/>
            <a:ext cx="255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8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CEA1F4-982D-40AF-A77F-8598B9BD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71825"/>
            <a:ext cx="2552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无依据、冲突或</a:t>
            </a:r>
          </a:p>
          <a:p xmlns:a="http://schemas.openxmlformats.org/drawingml/2006/main">
            <a: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专业判断时转人工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224FA6-55BD-449B-8377-A50AA8E8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评估重点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F35374-DEF5-4D47-86B5-AAFCE1B9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530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正确版本与引用  ·  权限隔离  ·  完成时间  ·  人工复核与全成本</a:t>
            </a:r>
          </a:p>
        </p:txBody>
      </p:sp>
    </p:spTree>
    <p:extLst>
      <p:ext uri="{BB962C8B-B14F-4D97-AF65-F5344CB8AC3E}">
        <p14:creationId xmlns:p14="http://schemas.microsoft.com/office/powerpoint/2010/main" val="5616891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2ACF13-39CD-4E89-8379-025874AB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场景示意  ·  非真实项目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F5E52-3186-416B-8010-7E35CDB6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示意场景：文档字段处理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7E70A-D725-4AD4-8D10-C05635D7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97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D94B58-98C1-4A3F-97AF-CEE20A9E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62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68212C-986C-490B-B6C8-800855D2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33575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78DD1-A6E2-494E-B1BF-65D2FCED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47925"/>
            <a:ext cx="2552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识别文件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EB58C-8B51-44CE-8C13-24FF7E90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255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8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F5D8D5-0CC1-4555-BD8B-F9D5FC31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2552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先选一种文件</a:t>
            </a:r>
          </a:p>
          <a:p xmlns:a="http://schemas.openxmlformats.org/drawingml/2006/main">
            <a: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记录版式与质量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0A804-8CAF-4C30-8B24-5BEA0277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33575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1ED320-6D0E-4EFF-A1CA-E5351C72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47925"/>
            <a:ext cx="2552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抽取字段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3FAB21-8E3C-4C08-91AC-2ED924FB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09900"/>
            <a:ext cx="255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8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D8466A-2465-43A6-9B6F-432F1647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71825"/>
            <a:ext cx="2552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OCR、规则或模型</a:t>
            </a:r>
          </a:p>
          <a:p xmlns:a="http://schemas.openxmlformats.org/drawingml/2006/main">
            <a: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给出候选值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398447-F139-42BC-A307-A3157375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33575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B90E4C-16FD-456A-9C20-98CF5D9C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47925"/>
            <a:ext cx="2552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规则校验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35E074-07B9-42D1-8EB6-E98D7960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9900"/>
            <a:ext cx="255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F9468B-C238-4153-8DF5-2AB5EDF3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71825"/>
            <a:ext cx="2552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检查完整性</a:t>
            </a:r>
          </a:p>
          <a:p xmlns:a="http://schemas.openxmlformats.org/drawingml/2006/main">
            <a: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范围与交叉关系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191806-1B64-409D-80C0-ABA12459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33575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56DAAB-0FA8-4EF5-8D82-EAD8342F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47925"/>
            <a:ext cx="2552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人工复核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740320-6FEC-4DD7-9D46-6C06A8C0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09900"/>
            <a:ext cx="255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8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ECCD4A-5482-4746-B73B-AE44F83D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71825"/>
            <a:ext cx="2552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核对关键字段</a:t>
            </a:r>
          </a:p>
          <a:p xmlns:a="http://schemas.openxmlformats.org/drawingml/2006/main">
            <a: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处理异常与纠错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28A45E-D9F6-46F1-A622-4331287A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评估重点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C5BE8E-5F65-467C-A750-50E82BAE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530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字段错误与漏检  ·  复核时间  ·  异常处理  ·  单件全成本</a:t>
            </a:r>
          </a:p>
        </p:txBody>
      </p:sp>
    </p:spTree>
    <p:extLst>
      <p:ext uri="{BB962C8B-B14F-4D97-AF65-F5344CB8AC3E}">
        <p14:creationId xmlns:p14="http://schemas.microsoft.com/office/powerpoint/2010/main" val="16276732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EE49C2-D27D-4352-96C7-FB04EFA1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管理者版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A2BA9-0EF3-448F-A5A6-55B04C5E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场景筛选与风险门槛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3C02C-2846-4447-A212-1B22C311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97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C13CF-C5CD-4D78-BCD7-5891066C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62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B7634-5ABB-407A-A8A3-ADE84D18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第一步  /  审查门槛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28C8B-54B8-4D72-B5CF-0309EAA4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9530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用途与责任</a:t>
            </a:r>
          </a:p>
          <a:p xmlns:a="http://schemas.openxmlformats.org/drawingml/2006/main">
            <a:pPr algn="l">
              <a:defRPr sz="202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数据与访问权限</a:t>
            </a:r>
          </a:p>
          <a:p xmlns:a="http://schemas.openxmlformats.org/drawingml/2006/main">
            <a:pPr algn="l">
              <a:defRPr sz="202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人工复核与回退</a:t>
            </a:r>
          </a:p>
          <a:p xmlns:a="http://schemas.openxmlformats.org/drawingml/2006/main">
            <a:pPr algn="l">
              <a:defRPr sz="202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适用要求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39C38-6A06-46EE-8337-78166E79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81200"/>
            <a:ext cx="0" cy="3114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8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D3EF11-E329-4E13-9AE9-BE484B4B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812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第二步  /  比较优先级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E696D6-7792-40CB-AE6D-DC6A4455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28900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246FC4-04A3-41FD-A0CA-66E720BB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比较价值与可行性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3F35FC-C3AD-42E2-84B6-A5839AB5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67075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D29F5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D29F5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D29F5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D29F5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D29F5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D29F5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D29F5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D29F5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D29F5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D29F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D29F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29F52"/>
                </a:solidFill>
                <a:latin typeface="Microsoft YaHei"/>
                <a:ea typeface="Microsoft YaHei"/>
                <a:cs typeface="Microsoft YaHei"/>
              </a:rPr>
              <a:t>待补充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E6D566-41A1-4E4D-9D31-6C0E8B4F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67075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补齐条件后再评审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38BA63-6AAE-4DD4-8AB3-602CEB17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05250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9C4A3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9C4A3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9C4A3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9C4A3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9C4A3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9C4A3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9C4A3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9C4A3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9C4A3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9C4A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9C4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9C4A3D"/>
                </a:solidFill>
                <a:latin typeface="Microsoft YaHei"/>
                <a:ea typeface="Microsoft YaHei"/>
                <a:cs typeface="Microsoft YaHei"/>
              </a:rPr>
              <a:t>不通过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6DD58C-AC3C-4C22-808E-A635EFB0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0525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停止或重新设计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BF5AAC-41C0-4400-830C-ABA791B9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评分用于讨论顺序，不能抵消未满足的必要条件。</a:t>
            </a:r>
          </a:p>
        </p:txBody>
      </p:sp>
    </p:spTree>
    <p:extLst>
      <p:ext uri="{BB962C8B-B14F-4D97-AF65-F5344CB8AC3E}">
        <p14:creationId xmlns:p14="http://schemas.microsoft.com/office/powerpoint/2010/main" val="16119437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079A54-204F-4D3E-A9EB-E1B0A997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管理者版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A73CE-9B6F-4EBC-ABFA-83F3B98D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如何判断试点有没有价值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6A04EB-302A-4D13-BCB8-400858E1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97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34C60D-3F32-44B5-AB27-2214E0AB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62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DECE4-9A39-4085-ABD3-78B1768E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质量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8187C6-979E-43C8-873E-55AF7A84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971675"/>
            <a:ext cx="847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正确、完整、有依据；严重错误单列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D26A1-7D25-4CEC-B0C5-C76A8322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B88F8-A3AC-404D-83DC-8E0E6F95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C24137-ECB1-4BE3-B79F-5E97BC5A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667000"/>
            <a:ext cx="847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端到端时间、返工与人工复核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F14933-0568-4101-9145-510633DB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0A00DF-0F3F-4518-8387-AF41DCC2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B4710F-9094-46FB-9E62-8D3FE869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362325"/>
            <a:ext cx="847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越权、错误影响、投诉与回退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F24844-5276-435A-9359-5B6BC3B6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957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60C4C3-2EE1-454E-8673-D29C7520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服务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208FFF-427A-4E48-9492-15DFC9A2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057650"/>
            <a:ext cx="847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用户体验；公共服务公平与可及性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2B22BD-304F-4880-9E63-2FFA5FB9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011A58-7FA5-4301-844C-81B47A0B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5297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成本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427C74-F007-4771-A765-9466FE3C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752975"/>
            <a:ext cx="847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建设、调用、运营、复核与退出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CDBDE-4CA6-417A-B9C2-22D79877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11254B-8DF1-466F-BAE7-5A391E0C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比较同一任务、期间与口径；证据不足时保持受控试点。</a:t>
            </a:r>
          </a:p>
        </p:txBody>
      </p:sp>
    </p:spTree>
    <p:extLst>
      <p:ext uri="{BB962C8B-B14F-4D97-AF65-F5344CB8AC3E}">
        <p14:creationId xmlns:p14="http://schemas.microsoft.com/office/powerpoint/2010/main" val="1355148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CF984E-8D50-4508-B027-1361F22B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合成示例  ·  非真实业绩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B8DD6-1A42-4C47-8C45-6ED8DC65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合成算例：节省工时不等于现金收益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FCAEF-28E9-4423-AF71-4FB801A4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97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73CAD-25D0-4370-9762-CC528049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62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6E0F1-6780-46AA-82F2-DF9FA826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rPr>
              <a:t>1,600 小时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85C86-C702-4859-A921-687FFF4B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原录入环节毛节约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BB8B4-071C-4579-8856-BB9CD24D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7.2 万元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2DC0E-E750-4570-AEB3-DE08F4C1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194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假设可兑现的现金收益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B35CB4-0C47-4139-8E46-01269D63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43125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rPr>
              <a:t>16.8 万元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566972-5F1B-490C-8745-7476DFEF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194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首年新增完整成本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B4B68-6F28-4C90-AC5E-33574656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8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5BF812-FBE5-40A5-8A8F-9CD0441E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（7.2 − 16.8）÷ 16.8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CBB7CF-CC31-461E-85AF-04556C77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62375"/>
            <a:ext cx="400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9C4A3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9C4A3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9C4A3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9C4A3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9C4A3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9C4A3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9C4A3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9C4A3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9C4A3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9C4A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9C4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9C4A3D"/>
                </a:solidFill>
                <a:latin typeface="Microsoft YaHei"/>
                <a:ea typeface="Microsoft YaHei"/>
                <a:cs typeface="Microsoft YaHei"/>
              </a:rPr>
              <a:t>= −57.1%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11E2AE-C351-498A-BC76-21614D41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假设 25% 的毛节约工时可兑现；新增复核另计。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D160F4-F58B-4001-A25B-67DF3F7B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仅用于解释口径；实际结果需以本组织数据核算。</a:t>
            </a:r>
          </a:p>
        </p:txBody>
      </p:sp>
    </p:spTree>
    <p:extLst>
      <p:ext uri="{BB962C8B-B14F-4D97-AF65-F5344CB8AC3E}">
        <p14:creationId xmlns:p14="http://schemas.microsoft.com/office/powerpoint/2010/main" val="18100398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A4CC29-4163-4B32-8E62-67AFE1B6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管理者版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404E4-997C-4222-8CCE-A0A1C45F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风险控制嵌入整个流程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1CBC0-465F-477C-826E-7AAA586F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97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6EACA-25E2-47FF-961D-77C1F940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62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61D38-3DEA-49F4-B485-EB030B75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立项前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EE7EB-38C6-4985-8719-38CB080F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309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56F1A-0C4C-4A75-90F6-FEAE4EDC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479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明确用途与责任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E5D97-0D4E-4FA5-B0A8-475D6053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309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D3EC89-2253-44D9-B9AB-CF683633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核对数据授权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51B60E-D4C5-40D5-B8C1-F28FFF22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309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77A13-FC21-40CB-AE04-66B69977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设定风险门槛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B53378-4CAE-40B3-80F5-918709A5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955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试点中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A18674-F32C-43A1-AD56-D8F0ECF6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24150"/>
            <a:ext cx="309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0EA9C7-1432-4F53-8895-540C2F4B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479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最小权限与人工复核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C85A65-DEE9-4B3D-8527-81F89DEB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467100"/>
            <a:ext cx="309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3AC44C-7875-4921-A1F9-D0FF1BB2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5909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记录质量、错误和成本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C40E42-FB6C-4C16-9389-398D45F3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10050"/>
            <a:ext cx="309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2F290A-20DC-477F-84AE-07B1D910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3338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限制范围并可暂停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E62AAC-4B56-456D-91D0-23E86821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运营后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489766-C87E-47D0-AA36-28B81963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309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AAAE7A-8286-4FC7-802F-8B5D6111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479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监测变化与事件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BE25D4-861F-4FC5-ACC6-F4B959CE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67100"/>
            <a:ext cx="309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DD1D69-63B5-435E-87B9-25B7AF3E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909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知识及模型变更复测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50305A-A1E2-4622-ACAD-C0901B51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10050"/>
            <a:ext cx="309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7FE053-BADC-4E05-A985-9936B1C4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338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纠错、回退和持续审查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680C0D-D1E9-4DC9-AAE5-4DB78DEC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适用要求按所在地、组织、数据和用途核实；参考框架不是认证。</a:t>
            </a:r>
          </a:p>
        </p:txBody>
      </p:sp>
    </p:spTree>
    <p:extLst>
      <p:ext uri="{BB962C8B-B14F-4D97-AF65-F5344CB8AC3E}">
        <p14:creationId xmlns:p14="http://schemas.microsoft.com/office/powerpoint/2010/main" val="8401883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330118-14DA-42BC-8211-7719138E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公开案例  ·  IBM 自述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4CE78-A29C-40CC-BD6D-46342C54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企业案例：IBM AskIBM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2F564-AB22-43C7-94F0-CC40459F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97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2B4095-A9ED-4D45-BF4B-18523F11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62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D8DE7-007C-4471-9E9F-DB895B9E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390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rPr>
              <a:t>60 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6DBCB-410B-45C4-A938-22C92A38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24175"/>
            <a:ext cx="4429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建设内部 alpha 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2DD03-ACB0-4272-BBB1-EE15E639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43325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28 万余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652E9-86C3-4DBE-8C89-E65C4A6A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4429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员工获得访问入口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70D6B5-84CA-4073-89F3-6ABEE1C8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000250"/>
            <a:ext cx="0" cy="3190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8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508885-A59D-4B1D-88E8-01030551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披露的用途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FD8CE-CD09-439C-AAC2-4B642458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527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信息检索、摘要、翻译与起草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39FBA-5F76-4897-BD0D-C87CCECE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1923C9-6188-4FD6-82DE-6B43E96D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开放范围不等于活跃采用；</a:t>
            </a:r>
          </a:p>
          <a:p xmlns:a="http://schemas.openxmlformats.org/drawingml/2006/main">
            <a:pPr algn="l">
              <a:defRPr sz="18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页面未披露生产率对照结果。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0F3DB9-FFAB-4CD7-A225-36C0CE84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来源：IBM 官方案例，2024 年；建设周期和开放范围均为 IBM 披露。</a:t>
            </a:r>
          </a:p>
        </p:txBody>
      </p:sp>
    </p:spTree>
    <p:extLst>
      <p:ext uri="{BB962C8B-B14F-4D97-AF65-F5344CB8AC3E}">
        <p14:creationId xmlns:p14="http://schemas.microsoft.com/office/powerpoint/2010/main" val="2058728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5D8745-6DFB-45B4-B346-02DC3896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公开案例  ·  政府评估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03E98-ACF6-40FB-B65F-4D8F1DEA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公共部门案例：英国 DWP 办公试验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27988-3FEF-4AB6-8AF6-BC42C9A0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97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13E8E-7ED5-4333-9F65-FCF92E24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62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B3681B-DDF9-41AF-8B68-13AB6640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D5C98"/>
                </a:solidFill>
                <a:latin typeface="Microsoft YaHei"/>
                <a:ea typeface="Microsoft YaHei"/>
                <a:cs typeface="Microsoft YaHei"/>
              </a:rPr>
              <a:t>19 分钟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EA1F7-8621-45A7-B516-4DB00CDC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估计每人每天节省的时间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A1F6E-881E-401F-99E9-1BCA20D4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八类日常任务；非随机对照回归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F1A8A-01A0-4639-BEDE-2374E321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00250"/>
            <a:ext cx="0" cy="3190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8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5088B-9327-46C6-A879-67930643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145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试验范围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78F85-1985-4D14-9177-1C7CE8D6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717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2024—2025 年六个月</a:t>
            </a:r>
          </a:p>
          <a:p xmlns:a="http://schemas.openxmlformats.org/drawingml/2006/main">
            <a:pPr algn="l">
              <a:def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3,549 个中央办公室许可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8847FA-58BB-4E74-A349-24FF9035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576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评估限制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8023E7-6737-4C79-B1C4-3F617B59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957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自报数据、非随机分配、无前测；</a:t>
            </a:r>
          </a:p>
          <a:p xmlns:a="http://schemas.openxmlformats.org/drawingml/2006/main">
            <a: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不能推断公众服务效果或现金 ROI。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BC0D6A-171F-498C-B6A6-E32BC443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来源：英国 DWP 官方评估，2026；数值为研究估计，不能直接外推。</a:t>
            </a:r>
          </a:p>
        </p:txBody>
      </p:sp>
    </p:spTree>
    <p:extLst>
      <p:ext uri="{BB962C8B-B14F-4D97-AF65-F5344CB8AC3E}">
        <p14:creationId xmlns:p14="http://schemas.microsoft.com/office/powerpoint/2010/main" val="19562116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77D015-FF30-45D4-AC9A-821B6A12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管理者版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7F7B7-3C45-4EA7-BB16-49C8BDEB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试点到运营的决策节点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64E32-4B55-4AC6-A191-CAD2BA3F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97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1EF1D-9EC4-4BDA-B600-2A6F3E52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62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A4DBA-48BC-4BD4-8156-AC1EDF74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79041-85D8-4A32-9C79-01060424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2552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定义问题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821BBE-BB5C-4424-89F2-A3A83714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255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8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EDA01-88DE-455D-8293-52BA0AC3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2552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明确目标、当前流程</a:t>
            </a:r>
          </a:p>
          <a:p xmlns:a="http://schemas.openxmlformats.org/drawingml/2006/main">
            <a: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与衡量基线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AF226-107A-4DA2-BFF5-E67823D5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EF547C-DAD8-4A48-BC46-D2D26AD7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2552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门槛审查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4DDAB3-310F-4BAF-8969-10BA1A01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28950"/>
            <a:ext cx="255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8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FC9079-4D28-4976-89BA-D2502092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90875"/>
            <a:ext cx="2552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确认用途、数据、</a:t>
            </a:r>
          </a:p>
          <a:p xmlns:a="http://schemas.openxmlformats.org/drawingml/2006/main">
            <a: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权限与责任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5458F4-55C1-4921-995A-EDC30399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96F888-1E53-4504-BDAB-31AA3E2E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66975"/>
            <a:ext cx="2552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受控试点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B2FC57-8CCE-4D7C-8387-03590842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28950"/>
            <a:ext cx="255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278691-FAEC-4AAE-AB37-7FBE2CEC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90875"/>
            <a:ext cx="2552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限定人群、任务、</a:t>
            </a:r>
          </a:p>
          <a:p xmlns:a="http://schemas.openxmlformats.org/drawingml/2006/main">
            <a: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复核和预算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0AC08F-909C-4452-A3D5-2EFB42FD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52625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E425FA-ADF5-4EFD-84F4-00BD061A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66975"/>
            <a:ext cx="2552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复盘决策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553913-8F2F-46BB-85C2-518A4105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28950"/>
            <a:ext cx="255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8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E3A997-4B1D-475D-BC9C-D56D34B4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90875"/>
            <a:ext cx="2552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检查质量、风险、成本；</a:t>
            </a:r>
          </a:p>
          <a:p xmlns:a="http://schemas.openxmlformats.org/drawingml/2006/main">
            <a:pPr algn="l">
              <a:def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决定继续、调整或停止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4CB6E-886F-43A1-BAD4-8B8CD071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扩大使用前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33628D-2F13-42BD-9323-800354EB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责任、运营、知识更新、事件处理和回退机制应已就绪。</a:t>
            </a:r>
          </a:p>
        </p:txBody>
      </p:sp>
    </p:spTree>
    <p:extLst>
      <p:ext uri="{BB962C8B-B14F-4D97-AF65-F5344CB8AC3E}">
        <p14:creationId xmlns:p14="http://schemas.microsoft.com/office/powerpoint/2010/main" val="20611100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68526-6312-43BB-AC74-528817C8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管理者版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B51EB-A5B5-48B3-A65D-3E16DB73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建议的首次管理讨论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FA906-7A83-4569-BDF0-ABB0A403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97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B0C33-5472-4227-85E1-2C71B01A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62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67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EBE8A-2C77-4C6A-8A62-1A5A48C7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95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C4F4A-97E6-49B1-9A7C-03B7B243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96215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选哪一个具体业务流程？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6673CB-8017-4921-A6ED-44476C8B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62506B-8867-4167-8D63-799A60C5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76525"/>
            <a:ext cx="95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0E7AA-091C-4E96-BCE1-8E9A0584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676525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谁负责，谁参与审核和运营？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BDC22-F2FC-43B8-89A4-8BE1388D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AB6070-69EE-4E51-87C1-0F34C92E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95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ED20D0-708F-44E9-9982-AEC20894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3909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现有做法与基线如何测量？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9C059E-E8E3-4DCA-ABF2-3C594178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8D6309-83DB-416C-839F-EA64D3EC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95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C85DA-8DF7-421E-8D21-D0A0BA52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105275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数据、权限和风险门槛是否满足？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B751C2-C55B-403A-828D-CFCDC808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7D320F-3521-4D0E-9C12-F67EA2FA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95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E688C3-0C86-4C2C-909A-5F07D472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81965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263C"/>
                </a:solidFill>
                <a:latin typeface="Microsoft YaHei"/>
                <a:ea typeface="Microsoft YaHei"/>
                <a:cs typeface="Microsoft YaHei"/>
              </a:rPr>
              <a:t>用什么证据决定继续、调整或停止？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4FC2A3-AC88-43E0-B621-1A9D0D92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625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705232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2026-10-30T10:17:39.4250000Z</dcterms:created>
  <dcterms:modified xsi:type="dcterms:W3CDTF">2026-10-30T10:17:39.4250000Z</dcterms:modified>
</coreProperties>
</file>