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aa2c940c104538" /><Relationship Type="http://schemas.openxmlformats.org/officeDocument/2006/relationships/extended-properties" Target="/docProps/app.xml" Id="R830a58d8db984199" /><Relationship Type="http://schemas.openxmlformats.org/officeDocument/2006/relationships/officeDocument" Target="/ppt/presentation.xml" Id="Rc022d8a011964b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9d0bea18fc496d"/>
  </p:sldMasterIdLst>
  <p:notesMasterIdLst>
    <p:notesMasterId xmlns:r="http://schemas.openxmlformats.org/officeDocument/2006/relationships" r:id="R7b0bb20934384a95"/>
  </p:notesMasterIdLst>
  <p:sldIdLst>
    <p:sldId xmlns:r="http://schemas.openxmlformats.org/officeDocument/2006/relationships" id="256" r:id="R39791f17b9aa4e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1f94d42f3f41ba" /><Relationship Type="http://schemas.openxmlformats.org/officeDocument/2006/relationships/slideMaster" Target="/ppt/slideMasters/slideMaster1.xml" Id="Rd89d0bea18fc496d" /><Relationship Type="http://schemas.openxmlformats.org/officeDocument/2006/relationships/notesMaster" Target="/ppt/notesMasters/notesMaster1.xml" Id="R7b0bb20934384a95" /><Relationship Type="http://schemas.openxmlformats.org/officeDocument/2006/relationships/presProps" Target="/ppt/presProps.xml" Id="R081f2be3c284484a" /><Relationship Type="http://schemas.openxmlformats.org/officeDocument/2006/relationships/tableStyles" Target="/ppt/tableStyles.xml" Id="Ra1ffd37f78c440ef" /><Relationship Type="http://schemas.openxmlformats.org/officeDocument/2006/relationships/slide" Target="/ppt/slides/slide1.xml" Id="R39791f17b9aa4e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f911f4841b4f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48b1433d3f4914" /><Relationship Type="http://schemas.openxmlformats.org/officeDocument/2006/relationships/notesMaster" Target="/ppt/notesMasters/notesMaster1.xml" Id="R65070d9c3d6c48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所有热度与应用价值分值均为虚构示意，不能用于判断真实行业热度或回报。二级板块独立评分，三级模块在其板块内分配；每个方块是可编辑的 PowerPoint 形状。图中标题条覆盖部分方块，但未改变底层矩形面积。数据来源：OrgAI Blueprint/assets/ai-treemap-demo-data.js；布局：ai-treemap-layout.js。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ba6c2b75e49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6ce83a7de142a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04da6deeb84e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65e040851a41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8266769e614f1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4a6c2afeef49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A2D285-BC1F-4076-97DF-136D7E5A09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DE1A30F-2B97-4D28-957D-4372D6E1FCD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C7B438B-D6A3-4857-9DBF-FB63D43CD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A1E6E4-A43B-407D-95C7-1A0F8228DA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C81D1FC-CA1B-4ED0-82FB-EF1AB1CC32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7CEFFBC-1C59-4358-8479-06FEAB380A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05D085-7E24-4F91-91FE-096BF68205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0A7C20-12A4-4942-B122-B407758EA4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D39FE1-BF18-4456-AA02-E3911EDD83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B49D82-11A1-460F-9FB4-96C2483010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6f242dafd54dda" /><Relationship Type="http://schemas.openxmlformats.org/officeDocument/2006/relationships/slideLayout" Target="/ppt/slideLayouts/slideLayout1.xml" Id="R6136345be4bb4b6c" /><Relationship Type="http://schemas.openxmlformats.org/officeDocument/2006/relationships/slideLayout" Target="/ppt/slideLayouts/slideLayout2.xml" Id="R4e2879c6ae0349ea" /><Relationship Type="http://schemas.openxmlformats.org/officeDocument/2006/relationships/slideLayout" Target="/ppt/slideLayouts/slideLayout3.xml" Id="Rda02199900324c7d" /><Relationship Type="http://schemas.openxmlformats.org/officeDocument/2006/relationships/slideLayout" Target="/ppt/slideLayouts/slideLayout4.xml" Id="R11026102dcb94157" /><Relationship Type="http://schemas.openxmlformats.org/officeDocument/2006/relationships/slideLayout" Target="/ppt/slideLayouts/slideLayout5.xml" Id="R0e336cc9bc9b4dae" /><Relationship Type="http://schemas.openxmlformats.org/officeDocument/2006/relationships/slideLayout" Target="/ppt/slideLayouts/slideLayout6.xml" Id="R20f29f8c907949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36345be4bb4b6c"/>
    <p:sldLayoutId xmlns:r="http://schemas.openxmlformats.org/officeDocument/2006/relationships" id="2147483650" r:id="R4e2879c6ae0349ea"/>
    <p:sldLayoutId xmlns:r="http://schemas.openxmlformats.org/officeDocument/2006/relationships" id="2147483651" r:id="Rda02199900324c7d"/>
    <p:sldLayoutId xmlns:r="http://schemas.openxmlformats.org/officeDocument/2006/relationships" id="2147483652" r:id="R11026102dcb94157"/>
    <p:sldLayoutId xmlns:r="http://schemas.openxmlformats.org/officeDocument/2006/relationships" id="2147483653" r:id="R0e336cc9bc9b4dae"/>
    <p:sldLayoutId xmlns:r="http://schemas.openxmlformats.org/officeDocument/2006/relationships" id="2147483654" r:id="R20f29f8c907949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844487af984e54" /><Relationship Type="http://schemas.openxmlformats.org/officeDocument/2006/relationships/notesSlide" Target="/ppt/notesSlides/notesSlide1.xml" Id="Rb77a58559b064c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4ABAA98-8944-4105-8C93-9F9BD48A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714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2F6F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F2F6F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F2F6F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F2F6F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F2F6F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F2F6F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F2F6F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F2F6F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F2F6F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F2F6F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6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2F6FB"/>
                </a:solidFill>
                <a:latin typeface="Microsoft YaHei"/>
                <a:ea typeface="Microsoft YaHei"/>
                <a:cs typeface="Microsoft YaHei"/>
              </a:rPr>
              <a:t>组织 AI 技术全景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192EA-7B8E-442F-ABE4-CBB2707E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865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rPr>
              <a:t>五个板块  ·  方块面积：热度 40% + 应用价值 60%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7123B-AB14-4AF5-B54C-DFD45194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952500"/>
            <a:ext cx="1143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0CE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F0CE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F0CE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F0CE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F0CE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F0CE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F0CE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F0CE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F0CE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F0CE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0C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0CE8A"/>
                </a:solidFill>
                <a:latin typeface="Microsoft YaHei"/>
                <a:ea typeface="Microsoft YaHei"/>
                <a:cs typeface="Microsoft YaHei"/>
              </a:rPr>
              <a:t>试验示意：评分均为虚构，仅用于测试布局与编辑；不是实时热度、市场份额或实际效果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1E9F8-3051-4646-83D7-414AE574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52550"/>
            <a:ext cx="1345240" cy="169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B54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大语言模型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A1FAA-C38C-4B44-903F-ADCC0AEB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840" y="1352550"/>
            <a:ext cx="1183811" cy="169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B54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多模态模型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AF1F4-8941-4C20-81D8-07A37B30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047790"/>
            <a:ext cx="1295368" cy="1478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15A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传统机器学习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FBE35-AE50-4FBB-B7FA-E11E21E4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968" y="3047790"/>
            <a:ext cx="1233684" cy="1478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742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领域微调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93337-EFCA-45E3-BC32-177D863E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526616"/>
            <a:ext cx="948394" cy="17313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15A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模型蒸馏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2.9%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F655B-BFFB-4117-979F-D9CC167C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994" y="4526616"/>
            <a:ext cx="1580657" cy="8656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15A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预训练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7B8CC-F16D-4ED2-A14E-6ECAA13D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994" y="5392271"/>
            <a:ext cx="1580657" cy="8656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15A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偏好对齐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B0319-8446-4CD9-B5C3-BEC94B33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381125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1"/>
          </a:solidFill>
          <a:ln xmlns:a="http://schemas.openxmlformats.org/drawingml/2006/main" w="0">
            <a:solidFill>
              <a:srgbClr val="14203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8103A-0D52-4C14-ABC0-08E85365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90650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模型与训练  21.6%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BCF92-8B73-4D11-866E-F31F942B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52550"/>
            <a:ext cx="2529052" cy="490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1CF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1F6D8-48AB-46F3-BAF6-CBA9AF09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652" y="1352550"/>
            <a:ext cx="1798815" cy="13329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B54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RAG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C158E-0CCA-4C12-8285-88ED0AB8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652" y="2685532"/>
            <a:ext cx="1798815" cy="11197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15A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数据治理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FAF51D-C649-44B1-BAE6-83782BAD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466" y="1352550"/>
            <a:ext cx="1564187" cy="1226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742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文档解析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3.3%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377D0-9C91-4123-B12B-8067DF6C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466" y="2578894"/>
            <a:ext cx="1564187" cy="1226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742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向量与混合检索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DCD95-68FE-4BFD-A5A7-0054E347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653" y="1352550"/>
            <a:ext cx="1290454" cy="1337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15A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清洗与标注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EE38E-C88D-4E63-9193-11C418BE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653" y="2690380"/>
            <a:ext cx="1290454" cy="1114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15A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知识图谱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DD1B28-DFEF-4255-98DD-D63835EB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227" y="1381125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1"/>
          </a:solidFill>
          <a:ln xmlns:a="http://schemas.openxmlformats.org/drawingml/2006/main" w="0">
            <a:solidFill>
              <a:srgbClr val="14203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A0BB59-DBA7-47C4-AE0F-2D845FF3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852" y="1390650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数据与知识  19.8%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ABAEA6-D7CC-45DC-B6A9-9AAEF37E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652" y="1352550"/>
            <a:ext cx="4653455" cy="2452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1CF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DD615F-4D5E-4E37-A43F-B715C428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652" y="3805238"/>
            <a:ext cx="1724988" cy="1311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742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私有化部署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3.9%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756C3E-FE21-4A2A-A955-35BB46BE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652" y="5117140"/>
            <a:ext cx="1724988" cy="11407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742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云端 API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3.4%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C16626-83AE-46A8-8CF5-925F00DD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639" y="3805238"/>
            <a:ext cx="1604640" cy="1226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742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量化压缩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3.4%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E4790B-FDFC-46B8-804F-26EC69B4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639" y="5031581"/>
            <a:ext cx="1604640" cy="1226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742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推理加速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3.4%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0AF9C9-3F85-4FBC-A5B2-FA9D6CD9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279" y="3805238"/>
            <a:ext cx="1323828" cy="1337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15A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路由与缓存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3.1%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636784-5808-4241-AFE6-25D50248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279" y="5143067"/>
            <a:ext cx="1323828" cy="1114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15A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边缘部署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7B7E05-2685-4C91-B58F-90012071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227" y="3833813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1"/>
          </a:solidFill>
          <a:ln xmlns:a="http://schemas.openxmlformats.org/drawingml/2006/main" w="0">
            <a:solidFill>
              <a:srgbClr val="14203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064F7E-FA92-417C-A761-BA5B4C60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852" y="3843338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模型部署与推理  19.8%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6EEDA3-4893-43A9-A255-74A55F86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652" y="3805238"/>
            <a:ext cx="4653455" cy="2452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1CF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41FBD1-969B-45D8-9D64-683B9476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107" y="1352550"/>
            <a:ext cx="1635980" cy="12535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742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应用效果评估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3.6%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5538CE-BFA1-41C8-B4F2-E1FF2A1E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107" y="2606146"/>
            <a:ext cx="1635980" cy="12535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742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安全防护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3.6%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1DEF88-3E51-4EC5-8D43-DAE309EA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087" y="1352550"/>
            <a:ext cx="1564851" cy="13105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742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数据隐私与权限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3.6%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93F7C5-513F-46F1-BC3B-1B0392BE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087" y="2663127"/>
            <a:ext cx="1564851" cy="11966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15A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监控与审计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3.3%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ACDD7F-DEBC-485F-860B-6CD4DC9A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1938" y="1352550"/>
            <a:ext cx="1351462" cy="1385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15A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人工监督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3.3%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0B116E-54E9-4E31-9AD3-9AD19CBE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1938" y="2738103"/>
            <a:ext cx="1351462" cy="1121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742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模型基准评测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2.6%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3AFF4C-A8C8-47CF-96EE-9BFA700D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682" y="1381125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1"/>
          </a:solidFill>
          <a:ln xmlns:a="http://schemas.openxmlformats.org/drawingml/2006/main" w="0">
            <a:solidFill>
              <a:srgbClr val="14203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58EC11-786E-48E3-8912-0A2CB5B6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307" y="1390650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评估与治理  19.8%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FD8B6A-818B-4E4C-80AB-0039C42D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107" y="1352550"/>
            <a:ext cx="4552293" cy="2507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1CF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99EFFF-FEB6-47E1-B3A1-265A6660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107" y="3859742"/>
            <a:ext cx="1781332" cy="1225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742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工作流编排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3.8%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7EFB17-6019-4F1F-9CA8-A11B9782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107" y="5085480"/>
            <a:ext cx="1781332" cy="11724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B54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智能体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3.6%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A3E06E-402F-4800-85A6-9E7FA3FF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2439" y="3859742"/>
            <a:ext cx="1583406" cy="1199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742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提示工程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3.3%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E062D1-9AA8-455C-8A33-D6622933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2439" y="5058833"/>
            <a:ext cx="1583406" cy="1199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742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3.3%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53E78B-BC83-4A81-9108-C83AE761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5845" y="3859742"/>
            <a:ext cx="1187555" cy="12790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B54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多智能体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2.6%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DF1383-FD86-4DD1-812A-C9A77D23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5845" y="5138773"/>
            <a:ext cx="1187555" cy="1119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742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具身智能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2.3%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0964C4-1F96-47F7-AC9B-982E6C68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682" y="3888317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1"/>
          </a:solidFill>
          <a:ln xmlns:a="http://schemas.openxmlformats.org/drawingml/2006/main" w="0">
            <a:solidFill>
              <a:srgbClr val="14203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8D28714-D85D-4683-AD59-CA9376BD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307" y="3897842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智能体与应用  19.0%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A8F405-F750-445B-ACF9-FB2505D0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107" y="3859742"/>
            <a:ext cx="4552293" cy="2398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1CFD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45672D-19E8-498B-8ABF-87B8E6F6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53175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rPr>
              <a:t>颜色：热度低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792E64-0B9B-424B-A8A3-E93D358C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419850"/>
            <a:ext cx="2381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74"/>
          </a:solidFill>
          <a:ln xmlns:a="http://schemas.openxmlformats.org/drawingml/2006/main" w="0">
            <a:solidFill>
              <a:srgbClr val="31517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856723-D0E7-4963-AAFE-6D9C7389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419850"/>
            <a:ext cx="2381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8788"/>
          </a:solidFill>
          <a:ln xmlns:a="http://schemas.openxmlformats.org/drawingml/2006/main" w="0">
            <a:solidFill>
              <a:srgbClr val="38878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68934F-FAA4-4D5A-B5B6-6E643E62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419850"/>
            <a:ext cx="2381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15A"/>
          </a:solidFill>
          <a:ln xmlns:a="http://schemas.openxmlformats.org/drawingml/2006/main" w="0">
            <a:solidFill>
              <a:srgbClr val="83A15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5312BD-7E6A-45EE-8935-0F8F728A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419850"/>
            <a:ext cx="2381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742"/>
          </a:solidFill>
          <a:ln xmlns:a="http://schemas.openxmlformats.org/drawingml/2006/main" w="0">
            <a:solidFill>
              <a:srgbClr val="D6974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D38DA1-CB9C-4AED-A330-B383DE96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6419850"/>
            <a:ext cx="2381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B54"/>
          </a:solidFill>
          <a:ln xmlns:a="http://schemas.openxmlformats.org/drawingml/2006/main" w="0">
            <a:solidFill>
              <a:srgbClr val="D65B5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21EC500-2DB2-4B8D-B4B3-1DDC4652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35317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0C3D6"/>
                </a:solidFill>
                <a:latin typeface="Microsoft YaHei"/>
                <a:ea typeface="Microsoft YaHei"/>
                <a:cs typeface="Microsoft YaHei"/>
              </a:rPr>
              <a:t>高   ·   标题条为覆盖层，分值与面积均为示意</a:t>
            </a:r>
          </a:p>
        </p:txBody>
      </p:sp>
    </p:spTree>
    <p:extLst>
      <p:ext uri="{BB962C8B-B14F-4D97-AF65-F5344CB8AC3E}">
        <p14:creationId xmlns:p14="http://schemas.microsoft.com/office/powerpoint/2010/main" val="1290689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2026-10-30T11:03:15.9020000Z</dcterms:created>
  <dcterms:modified xsi:type="dcterms:W3CDTF">2026-10-30T11:03:15.9020000Z</dcterms:modified>
</coreProperties>
</file>